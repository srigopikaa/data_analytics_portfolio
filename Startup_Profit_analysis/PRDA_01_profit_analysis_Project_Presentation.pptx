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14"/>
  </p:notesMasterIdLst>
  <p:sldIdLst>
    <p:sldId id="291" r:id="rId3"/>
    <p:sldId id="292" r:id="rId4"/>
    <p:sldId id="294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3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B7B953-1DF4-8E25-2FD7-461A6661F625}" name="user" initials="u" userId="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/>
            </a:pPr>
            <a:r>
              <a:rPr lang="en-US"/>
              <a:t>Average Profit by State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Profit ($K)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California</c:v>
                </c:pt>
                <c:pt idx="1">
                  <c:v>New York</c:v>
                </c:pt>
                <c:pt idx="2">
                  <c:v>Florida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103.91</c:v>
                </c:pt>
                <c:pt idx="1">
                  <c:v>113.76</c:v>
                </c:pt>
                <c:pt idx="2">
                  <c:v>118.77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23-4395-B671-9B1B253FF1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/>
            </a:pPr>
            <a:r>
              <a:rPr lang="en-US"/>
              <a:t>Average Department Spend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Spend ($K)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Marketing</c:v>
                </c:pt>
                <c:pt idx="2">
                  <c:v>Administration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73.72</c:v>
                </c:pt>
                <c:pt idx="1">
                  <c:v>211.03</c:v>
                </c:pt>
                <c:pt idx="2">
                  <c:v>121.34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D1-4BB0-AC36-0B36E7DF0D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/>
            </a:pPr>
            <a:r>
              <a:rPr lang="en-US"/>
              <a:t>Initial R² Comparison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Linear Regression</c:v>
                </c:pt>
                <c:pt idx="1">
                  <c:v>KNN</c:v>
                </c:pt>
                <c:pt idx="2">
                  <c:v>Random Forest</c:v>
                </c:pt>
                <c:pt idx="3">
                  <c:v>Gradient Boosting</c:v>
                </c:pt>
                <c:pt idx="4">
                  <c:v>Neural Network</c:v>
                </c:pt>
                <c:pt idx="5">
                  <c:v>SVM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0.85599999999999998</c:v>
                </c:pt>
                <c:pt idx="1">
                  <c:v>0.60499999999999998</c:v>
                </c:pt>
                <c:pt idx="2">
                  <c:v>0.876</c:v>
                </c:pt>
                <c:pt idx="3">
                  <c:v>0.89300000000000002</c:v>
                </c:pt>
                <c:pt idx="4">
                  <c:v>-7.2460000000000004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ED-44FD-B05C-AE03259474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/>
            </a:pPr>
            <a:r>
              <a:rPr lang="en-US"/>
              <a:t>5-fold Cross-validated R²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Cross-validated R²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Linear Regression</c:v>
                </c:pt>
                <c:pt idx="1">
                  <c:v>Gradient Boosting</c:v>
                </c:pt>
                <c:pt idx="2">
                  <c:v>Random Forest</c:v>
                </c:pt>
                <c:pt idx="3">
                  <c:v>Tree</c:v>
                </c:pt>
                <c:pt idx="4">
                  <c:v>kNN</c:v>
                </c:pt>
                <c:pt idx="5">
                  <c:v>SVM</c:v>
                </c:pt>
                <c:pt idx="6">
                  <c:v>Neural Network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0.94299999999999995</c:v>
                </c:pt>
                <c:pt idx="1">
                  <c:v>0.93300000000000005</c:v>
                </c:pt>
                <c:pt idx="2">
                  <c:v>0.92900000000000005</c:v>
                </c:pt>
                <c:pt idx="3">
                  <c:v>0.89600000000000002</c:v>
                </c:pt>
                <c:pt idx="4">
                  <c:v>0.63500000000000001</c:v>
                </c:pt>
                <c:pt idx="5">
                  <c:v>-1.7999999999999999E-2</c:v>
                </c:pt>
                <c:pt idx="6">
                  <c:v>-7.8789999999999996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E3-4F19-85D4-DFC90167A7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0B71E-F571-41DF-BAF6-53B80B566C0C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65A26-29B4-432C-8EE9-AEDF9172D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5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84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48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13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699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36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90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343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050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FE07-75D6-A1B7-534F-101B694FE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4A7917-A478-1127-9903-F6AF20C4D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2BB5B-A109-5188-302F-E10945EE0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285E-E926-A81E-668B-09AC55A0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D4F52-90FC-9E3E-F1FC-BCA6B9AA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14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EAF7-FB07-F0D6-DC38-6D1AA1284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753D5-4FB3-32AA-6E80-02EE4CDBF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3008C-90A0-7EF9-0049-5F66FB4B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A7672-15AA-4F84-E162-9F3E91468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8AACC-831B-2C8B-9ABC-15CDABF2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F0ED-40EC-AE9F-A2FF-56086C52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00468-C539-9CA4-3367-14511FAE2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7617C-2EF5-E43C-A5E4-6DC12EB8C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021AB-59C7-1E5B-2C85-A8A007E3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B8A7A-3A64-910F-2606-B9C56752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7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7FB2D-3BF4-AA03-3634-DA1475CD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49219-BB26-8862-F2AE-D626F5EEC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0F472-0DD0-3BEC-C86C-6CD61DA7F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55826-275B-78E9-D096-D0E3ECE51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57130-EEFF-285E-5BFB-D49794AC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74827-6F8D-D38B-1B07-4C6405ED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07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AA47-2CDC-AF7F-3EAB-436BD5661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202E1-3EF9-4315-E2CB-651E71C67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EA2F1-32E6-1AD5-293B-920AC783C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43879-F840-EE51-3942-F88A03602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B77ECA-BC73-CF94-9AB1-92372F285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2AFB0D-2661-1A66-0883-00749FCE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8FD42-5B26-E608-99DE-34270E917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42F80-2F69-E1E3-F14E-A8BE3ECE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1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3A5FB-37D3-A1C7-E2F8-DAEB81A99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455CE9-FB4B-8B84-B01C-4FAB2070A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BF031C-B9B5-F20D-D130-0737B665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0E471-4506-AE93-D89E-6855AC3F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9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700C59-F2A7-1964-D3AD-62D1617B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6EE8F-DB7B-F368-F208-CB7F3DA5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56869-6026-F03A-F70E-4DFE4F86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97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D802-6DD3-0BDC-2FF5-01C5AB88F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855C3-A069-F58D-98D0-4D9948081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0D81C-0C9B-1B5A-19C0-429582115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1C41D-2266-A0DF-09D7-A455DD914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793FF-4A1F-2A31-2446-8FC08925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57EC2-F4CA-4DE1-3745-78BE6A4F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7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4E06-E15A-3291-8129-06F773EBD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2E78A8-3CCE-2143-1AA9-5D543C923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7BE5D-103E-85DF-1276-B1397C8BE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32743-E92E-07F4-C42E-DDAFB838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05B1B-67D3-5783-FC2F-EE36A4462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BFCF8-10EF-5B73-63F3-56384A87B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47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9928-F2DC-908E-2F9F-0416DDF45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DF2EC-F4FE-1192-7E4B-0ECC1F80A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5B14D-AB7B-5648-234B-75E4EFD13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88CC4-4791-4AD3-F1DC-EF332715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E790F-7724-47F7-0FCC-487F7F0FC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85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CC163-EABE-B37D-B989-7021A69FD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71D04-5BA4-50B9-974D-CE7A85B28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9BCA9-4FD8-6D03-3041-3324B710A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746E1-1429-30EC-3D04-94FDB475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08217-1E53-2C5B-E4E1-E3B7346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30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711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038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435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40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5764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836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470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0667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756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0697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1536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8067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995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868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52AE07-4ACE-B54D-4979-44716AC6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1803F-D15C-4995-0E82-F9C64AD9B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2F217-539A-FDCC-76EF-0B3B8E7D5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A9DE9-4B48-F9C8-9E61-7705F43C2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35411-EFF3-2353-F9FD-04A969DCD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68E35-ED01-44F3-B6E8-89477DC11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7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3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rigopikaa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srigopikaa@gmail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4141552"/>
            <a:ext cx="4941771" cy="915639"/>
          </a:xfrm>
        </p:spPr>
        <p:txBody>
          <a:bodyPr anchor="ctr"/>
          <a:lstStyle/>
          <a:p>
            <a:r>
              <a:rPr lang="en-US" sz="2400" b="1" dirty="0"/>
              <a:t>SQL Project Title: </a:t>
            </a:r>
            <a:br>
              <a:rPr lang="en-US" sz="2400" b="1" dirty="0"/>
            </a:br>
            <a:r>
              <a:rPr lang="en-IN" sz="2000" b="1" dirty="0"/>
              <a:t>Profit Analysis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EFDF9-38F7-3AA4-C343-99D7FA94A31A}"/>
              </a:ext>
            </a:extLst>
          </p:cNvPr>
          <p:cNvSpPr txBox="1"/>
          <p:nvPr/>
        </p:nvSpPr>
        <p:spPr>
          <a:xfrm>
            <a:off x="6441918" y="4762485"/>
            <a:ext cx="57500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Author: Srigopikaa M P</a:t>
            </a:r>
            <a:br>
              <a:rPr lang="en-US" sz="2400" dirty="0"/>
            </a:br>
            <a:r>
              <a:rPr lang="en-US" sz="2400" dirty="0"/>
              <a:t>Email: </a:t>
            </a:r>
            <a:r>
              <a:rPr lang="en-US" sz="2400" dirty="0">
                <a:hlinkClick r:id="rId3"/>
              </a:rPr>
              <a:t>srigopikaa@gmail.com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10798562" cy="212117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dirty="0"/>
              <a:t>Problem Understanding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672554"/>
            <a:ext cx="7288212" cy="358809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80000"/>
              </a:lnSpc>
              <a:spcAft>
                <a:spcPct val="0"/>
              </a:spcAft>
            </a:pPr>
            <a:r>
              <a:rPr lang="en-US" sz="1600" b="0" dirty="0">
                <a:solidFill>
                  <a:sysClr val="windowText" lastClr="000000"/>
                </a:solidFill>
              </a:rPr>
              <a:t>Determine which investment areas have the strongest relationship with Profit.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</a:pPr>
            <a:r>
              <a:rPr lang="en-US" sz="1600" b="0" dirty="0">
                <a:solidFill>
                  <a:sysClr val="windowText" lastClr="000000"/>
                </a:solidFill>
              </a:rPr>
              <a:t>Assess whether any department appears over- or under-invested based on observed relationships.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</a:pPr>
            <a:r>
              <a:rPr lang="en-US" sz="1600" b="0" dirty="0">
                <a:solidFill>
                  <a:sysClr val="windowText" lastClr="000000"/>
                </a:solidFill>
              </a:rPr>
              <a:t>Build a regression model that can estimate Profit for new combinations of R&amp;D, Administration and Marketing spend.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Key challenges: </a:t>
            </a:r>
          </a:p>
          <a:p>
            <a:pPr marL="285750" lvl="1" fontAlgn="base">
              <a:lnSpc>
                <a:spcPct val="80000"/>
              </a:lnSpc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Small sample size</a:t>
            </a:r>
          </a:p>
          <a:p>
            <a:pPr marL="285750" lvl="1" fontAlgn="base">
              <a:lnSpc>
                <a:spcPct val="80000"/>
              </a:lnSpc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 Potential multicollinearity</a:t>
            </a:r>
          </a:p>
          <a:p>
            <a:pPr marL="285750" lvl="1" fontAlgn="base">
              <a:lnSpc>
                <a:spcPct val="80000"/>
              </a:lnSpc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 Categorical State encoding</a:t>
            </a:r>
          </a:p>
          <a:p>
            <a:pPr marL="285750" lvl="1" fontAlgn="base">
              <a:lnSpc>
                <a:spcPct val="80000"/>
              </a:lnSpc>
              <a:spcAft>
                <a:spcPct val="0"/>
              </a:spcAft>
            </a:pPr>
            <a:r>
              <a:rPr lang="en-US" sz="1600" dirty="0">
                <a:solidFill>
                  <a:sysClr val="windowText" lastClr="000000"/>
                </a:solidFill>
              </a:rPr>
              <a:t> Outliers and regression assumptions</a:t>
            </a:r>
          </a:p>
          <a:p>
            <a:pPr fontAlgn="base">
              <a:lnSpc>
                <a:spcPct val="80000"/>
              </a:lnSpc>
              <a:spcAft>
                <a:spcPct val="0"/>
              </a:spcAft>
            </a:pPr>
            <a:endParaRPr lang="en-US" sz="1600" b="0" dirty="0">
              <a:solidFill>
                <a:sysClr val="windowText" lastClr="000000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z="1200" smtClean="0"/>
              <a:pPr/>
              <a:t>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5CC49649-824B-AA1A-433F-6B9969D95D98}"/>
              </a:ext>
            </a:extLst>
          </p:cNvPr>
          <p:cNvSpPr txBox="1">
            <a:spLocks/>
          </p:cNvSpPr>
          <p:nvPr/>
        </p:nvSpPr>
        <p:spPr>
          <a:xfrm>
            <a:off x="1049724" y="1129725"/>
            <a:ext cx="9831636" cy="7418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spc="150" baseline="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Data Preparations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44AB61FC-B7F1-8018-59DD-C7E66341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724" y="3991742"/>
            <a:ext cx="9760516" cy="198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R="0" lvl="0" indent="0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000" b="0" i="0" u="none" strike="noStrike" cap="none" spc="5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defRPr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pc="50" baseline="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en-US" sz="1600" dirty="0"/>
              <a:t>No duplicate records were found.</a:t>
            </a:r>
          </a:p>
          <a:p>
            <a:r>
              <a:rPr lang="en-US" altLang="en-US" sz="1600" dirty="0"/>
              <a:t>No missing values were identified.</a:t>
            </a:r>
          </a:p>
          <a:p>
            <a:r>
              <a:rPr lang="en-US" altLang="en-US" sz="1600" dirty="0"/>
              <a:t>R&amp;D Spend, Administration and Marketing Spend were treated as numeric predictors, State as categorical, Profit as numeric target.</a:t>
            </a:r>
          </a:p>
          <a:p>
            <a:r>
              <a:rPr lang="en-US" altLang="en-US" sz="1600" dirty="0"/>
              <a:t>IQR analysis identified potential low-end outliers in Profit and Marketing Spend. They were retained because they may represent legitimate business observations.</a:t>
            </a:r>
          </a:p>
          <a:p>
            <a:r>
              <a:rPr lang="en-US" altLang="en-US" sz="1600" dirty="0"/>
              <a:t>An Index column was added because the CSV did not contain a unique identifier.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98D9948-EC9F-A1A2-EA02-6014E729BC89}"/>
              </a:ext>
            </a:extLst>
          </p:cNvPr>
          <p:cNvGrpSpPr/>
          <p:nvPr/>
        </p:nvGrpSpPr>
        <p:grpSpPr>
          <a:xfrm>
            <a:off x="1049724" y="2199005"/>
            <a:ext cx="1632857" cy="933061"/>
            <a:chOff x="1141164" y="1736725"/>
            <a:chExt cx="1632857" cy="933061"/>
          </a:xfrm>
        </p:grpSpPr>
        <p:sp>
          <p:nvSpPr>
            <p:cNvPr id="30" name="Rounded Rectangle 4">
              <a:extLst>
                <a:ext uri="{FF2B5EF4-FFF2-40B4-BE49-F238E27FC236}">
                  <a16:creationId xmlns:a16="http://schemas.microsoft.com/office/drawing/2014/main" id="{84F3A7EE-BE44-C560-2B41-FD159AAF632F}"/>
                </a:ext>
              </a:extLst>
            </p:cNvPr>
            <p:cNvSpPr/>
            <p:nvPr/>
          </p:nvSpPr>
          <p:spPr>
            <a:xfrm>
              <a:off x="1141164" y="1736725"/>
              <a:ext cx="1632857" cy="933061"/>
            </a:xfrm>
            <a:prstGeom prst="roundRect">
              <a:avLst/>
            </a:prstGeom>
            <a:solidFill>
              <a:srgbClr val="E5EFFA"/>
            </a:solidFill>
            <a:ln w="12700" cap="flat" cmpd="sng" algn="ctr">
              <a:solidFill>
                <a:srgbClr val="CDD7E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F95C6C-FE2B-4368-89BE-92F0552839AF}"/>
                </a:ext>
              </a:extLst>
            </p:cNvPr>
            <p:cNvSpPr txBox="1"/>
            <p:nvPr/>
          </p:nvSpPr>
          <p:spPr>
            <a:xfrm>
              <a:off x="1205234" y="1901317"/>
              <a:ext cx="1477347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700" b="1">
                  <a:solidFill>
                    <a:srgbClr val="122240"/>
                  </a:solidFill>
                </a:defRPr>
              </a:pPr>
              <a:r>
                <a:rPr kumimoji="0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122240"/>
                  </a:solidFill>
                  <a:effectLst/>
                  <a:uLnTx/>
                  <a:uFillTx/>
                  <a:latin typeface="+mj-lt"/>
                </a:rPr>
                <a:t>Fetch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50">
                  <a:solidFill>
                    <a:srgbClr val="69707D"/>
                  </a:solidFill>
                </a:defRPr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69707D"/>
                  </a:solidFill>
                  <a:effectLst/>
                  <a:uLnTx/>
                  <a:uFillTx/>
                  <a:latin typeface="+mj-lt"/>
                </a:rPr>
                <a:t>Exported from Database as CSV</a:t>
              </a:r>
              <a:endPara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69707D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91B53D0-3DD2-6FB4-AE0D-6F707A0983E2}"/>
              </a:ext>
            </a:extLst>
          </p:cNvPr>
          <p:cNvGrpSpPr/>
          <p:nvPr/>
        </p:nvGrpSpPr>
        <p:grpSpPr>
          <a:xfrm>
            <a:off x="2977509" y="2199005"/>
            <a:ext cx="1632857" cy="933061"/>
            <a:chOff x="3408876" y="1736725"/>
            <a:chExt cx="1632857" cy="933061"/>
          </a:xfrm>
        </p:grpSpPr>
        <p:sp>
          <p:nvSpPr>
            <p:cNvPr id="33" name="Rounded Rectangle 6">
              <a:extLst>
                <a:ext uri="{FF2B5EF4-FFF2-40B4-BE49-F238E27FC236}">
                  <a16:creationId xmlns:a16="http://schemas.microsoft.com/office/drawing/2014/main" id="{97F6BAD3-E217-FA19-87E1-07650AA02AF3}"/>
                </a:ext>
              </a:extLst>
            </p:cNvPr>
            <p:cNvSpPr/>
            <p:nvPr/>
          </p:nvSpPr>
          <p:spPr>
            <a:xfrm>
              <a:off x="3408876" y="1736725"/>
              <a:ext cx="1632857" cy="933061"/>
            </a:xfrm>
            <a:prstGeom prst="roundRect">
              <a:avLst/>
            </a:prstGeom>
            <a:solidFill>
              <a:srgbClr val="E5EFFA"/>
            </a:solidFill>
            <a:ln w="12700" cap="flat" cmpd="sng" algn="ctr">
              <a:solidFill>
                <a:srgbClr val="CDD7E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6938D2B-6BB3-CDA0-099D-103E2856619E}"/>
                </a:ext>
              </a:extLst>
            </p:cNvPr>
            <p:cNvSpPr txBox="1"/>
            <p:nvPr/>
          </p:nvSpPr>
          <p:spPr>
            <a:xfrm>
              <a:off x="3472946" y="1901317"/>
              <a:ext cx="1477347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700" b="1">
                  <a:solidFill>
                    <a:srgbClr val="122240"/>
                  </a:solidFill>
                </a:defRPr>
              </a:pPr>
              <a:r>
                <a:rPr kumimoji="0" sz="1600" b="1" i="0" u="none" strike="noStrike" kern="0" cap="none" spc="0" normalizeH="0" baseline="0" noProof="0">
                  <a:ln>
                    <a:noFill/>
                  </a:ln>
                  <a:solidFill>
                    <a:srgbClr val="122240"/>
                  </a:solidFill>
                  <a:effectLst/>
                  <a:uLnTx/>
                  <a:uFillTx/>
                  <a:latin typeface="+mj-lt"/>
                </a:rPr>
                <a:t>Clean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50">
                  <a:solidFill>
                    <a:srgbClr val="69707D"/>
                  </a:solidFill>
                </a:defRPr>
              </a:pPr>
              <a:r>
                <a: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69707D"/>
                  </a:solidFill>
                  <a:effectLst/>
                  <a:uLnTx/>
                  <a:uFillTx/>
                  <a:latin typeface="+mj-lt"/>
                </a:rPr>
                <a:t>Split by ; delimiter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71D8DD-3E3F-8910-B923-4E33919EB5B0}"/>
              </a:ext>
            </a:extLst>
          </p:cNvPr>
          <p:cNvGrpSpPr/>
          <p:nvPr/>
        </p:nvGrpSpPr>
        <p:grpSpPr>
          <a:xfrm>
            <a:off x="4905294" y="2199005"/>
            <a:ext cx="1632857" cy="933061"/>
            <a:chOff x="5676588" y="1736725"/>
            <a:chExt cx="1632857" cy="933061"/>
          </a:xfrm>
        </p:grpSpPr>
        <p:sp>
          <p:nvSpPr>
            <p:cNvPr id="36" name="Rounded Rectangle 8">
              <a:extLst>
                <a:ext uri="{FF2B5EF4-FFF2-40B4-BE49-F238E27FC236}">
                  <a16:creationId xmlns:a16="http://schemas.microsoft.com/office/drawing/2014/main" id="{BFED17B5-9FCD-E164-9D1E-FBFD98B8D485}"/>
                </a:ext>
              </a:extLst>
            </p:cNvPr>
            <p:cNvSpPr/>
            <p:nvPr/>
          </p:nvSpPr>
          <p:spPr>
            <a:xfrm>
              <a:off x="5676588" y="1736725"/>
              <a:ext cx="1632857" cy="933061"/>
            </a:xfrm>
            <a:prstGeom prst="roundRect">
              <a:avLst/>
            </a:prstGeom>
            <a:solidFill>
              <a:srgbClr val="E5EFFA"/>
            </a:solidFill>
            <a:ln w="12700" cap="flat" cmpd="sng" algn="ctr">
              <a:solidFill>
                <a:srgbClr val="CDD7E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30A8D3-778E-01B2-22D2-D0CA0962126F}"/>
                </a:ext>
              </a:extLst>
            </p:cNvPr>
            <p:cNvSpPr txBox="1"/>
            <p:nvPr/>
          </p:nvSpPr>
          <p:spPr>
            <a:xfrm>
              <a:off x="5740658" y="1901317"/>
              <a:ext cx="1477347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700" b="1">
                  <a:solidFill>
                    <a:srgbClr val="122240"/>
                  </a:solidFill>
                </a:defRPr>
              </a:pPr>
              <a:r>
                <a:rPr kumimoji="0" sz="1600" b="1" i="0" u="none" strike="noStrike" kern="0" cap="none" spc="0" normalizeH="0" baseline="0" noProof="0">
                  <a:ln>
                    <a:noFill/>
                  </a:ln>
                  <a:solidFill>
                    <a:srgbClr val="122240"/>
                  </a:solidFill>
                  <a:effectLst/>
                  <a:uLnTx/>
                  <a:uFillTx/>
                  <a:latin typeface="+mj-lt"/>
                </a:rPr>
                <a:t>Validate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50">
                  <a:solidFill>
                    <a:srgbClr val="69707D"/>
                  </a:solidFill>
                </a:defRPr>
              </a:pPr>
              <a:r>
                <a: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69707D"/>
                  </a:solidFill>
                  <a:effectLst/>
                  <a:uLnTx/>
                  <a:uFillTx/>
                  <a:latin typeface="+mj-lt"/>
                </a:rPr>
                <a:t>Types / duplicates / nulls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1293273-C016-DB2F-F28F-84C8D5D09999}"/>
              </a:ext>
            </a:extLst>
          </p:cNvPr>
          <p:cNvGrpSpPr/>
          <p:nvPr/>
        </p:nvGrpSpPr>
        <p:grpSpPr>
          <a:xfrm>
            <a:off x="6833079" y="2199004"/>
            <a:ext cx="1632857" cy="933061"/>
            <a:chOff x="7944300" y="1736725"/>
            <a:chExt cx="1632857" cy="933061"/>
          </a:xfrm>
        </p:grpSpPr>
        <p:sp>
          <p:nvSpPr>
            <p:cNvPr id="39" name="Rounded Rectangle 10">
              <a:extLst>
                <a:ext uri="{FF2B5EF4-FFF2-40B4-BE49-F238E27FC236}">
                  <a16:creationId xmlns:a16="http://schemas.microsoft.com/office/drawing/2014/main" id="{1DB518B4-D7FA-47CB-3A54-49657F81E39B}"/>
                </a:ext>
              </a:extLst>
            </p:cNvPr>
            <p:cNvSpPr/>
            <p:nvPr/>
          </p:nvSpPr>
          <p:spPr>
            <a:xfrm>
              <a:off x="7944300" y="1736725"/>
              <a:ext cx="1632857" cy="933061"/>
            </a:xfrm>
            <a:prstGeom prst="roundRect">
              <a:avLst/>
            </a:prstGeom>
            <a:solidFill>
              <a:srgbClr val="E5EFFA"/>
            </a:solidFill>
            <a:ln w="12700" cap="flat" cmpd="sng" algn="ctr">
              <a:solidFill>
                <a:srgbClr val="CDD7E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6372029-8F68-7754-E253-873B0B707753}"/>
                </a:ext>
              </a:extLst>
            </p:cNvPr>
            <p:cNvSpPr txBox="1"/>
            <p:nvPr/>
          </p:nvSpPr>
          <p:spPr>
            <a:xfrm>
              <a:off x="8008369" y="1901317"/>
              <a:ext cx="1477347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700" b="1">
                  <a:solidFill>
                    <a:srgbClr val="122240"/>
                  </a:solidFill>
                </a:defRPr>
              </a:pPr>
              <a:r>
                <a:rPr kumimoji="0" sz="1600" b="1" i="0" u="none" strike="noStrike" kern="0" cap="none" spc="0" normalizeH="0" baseline="0" noProof="0">
                  <a:ln>
                    <a:noFill/>
                  </a:ln>
                  <a:solidFill>
                    <a:srgbClr val="122240"/>
                  </a:solidFill>
                  <a:effectLst/>
                  <a:uLnTx/>
                  <a:uFillTx/>
                  <a:latin typeface="+mj-lt"/>
                </a:rPr>
                <a:t>Detect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50">
                  <a:solidFill>
                    <a:srgbClr val="69707D"/>
                  </a:solidFill>
                </a:defRPr>
              </a:pPr>
              <a:r>
                <a:rPr kumimoji="0" sz="900" b="0" i="0" u="none" strike="noStrike" kern="0" cap="none" spc="0" normalizeH="0" baseline="0" noProof="0">
                  <a:ln>
                    <a:noFill/>
                  </a:ln>
                  <a:solidFill>
                    <a:srgbClr val="69707D"/>
                  </a:solidFill>
                  <a:effectLst/>
                  <a:uLnTx/>
                  <a:uFillTx/>
                  <a:latin typeface="+mj-lt"/>
                </a:rPr>
                <a:t>IQR outlier review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9C1D777-3C0A-737D-7378-C65B99FDEB8B}"/>
              </a:ext>
            </a:extLst>
          </p:cNvPr>
          <p:cNvGrpSpPr/>
          <p:nvPr/>
        </p:nvGrpSpPr>
        <p:grpSpPr>
          <a:xfrm>
            <a:off x="8760862" y="2200235"/>
            <a:ext cx="1632857" cy="933061"/>
            <a:chOff x="10212012" y="1736725"/>
            <a:chExt cx="1632857" cy="933061"/>
          </a:xfrm>
        </p:grpSpPr>
        <p:sp>
          <p:nvSpPr>
            <p:cNvPr id="42" name="Rounded Rectangle 12">
              <a:extLst>
                <a:ext uri="{FF2B5EF4-FFF2-40B4-BE49-F238E27FC236}">
                  <a16:creationId xmlns:a16="http://schemas.microsoft.com/office/drawing/2014/main" id="{3785A3BB-4719-3399-B36F-FDA5599F4E63}"/>
                </a:ext>
              </a:extLst>
            </p:cNvPr>
            <p:cNvSpPr/>
            <p:nvPr/>
          </p:nvSpPr>
          <p:spPr>
            <a:xfrm>
              <a:off x="10212012" y="1736725"/>
              <a:ext cx="1632857" cy="933061"/>
            </a:xfrm>
            <a:prstGeom prst="roundRect">
              <a:avLst/>
            </a:prstGeom>
            <a:solidFill>
              <a:srgbClr val="E5EFFA"/>
            </a:solidFill>
            <a:ln w="12700" cap="flat" cmpd="sng" algn="ctr">
              <a:solidFill>
                <a:srgbClr val="CDD7E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27804E8-6CF3-EA24-6EEF-A8BBA930AD0A}"/>
                </a:ext>
              </a:extLst>
            </p:cNvPr>
            <p:cNvSpPr txBox="1"/>
            <p:nvPr/>
          </p:nvSpPr>
          <p:spPr>
            <a:xfrm>
              <a:off x="10276082" y="1901317"/>
              <a:ext cx="1477347" cy="477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700" b="1">
                  <a:solidFill>
                    <a:srgbClr val="122240"/>
                  </a:solidFill>
                </a:defRPr>
              </a:pPr>
              <a:r>
                <a:rPr kumimoji="0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122240"/>
                  </a:solidFill>
                  <a:effectLst/>
                  <a:uLnTx/>
                  <a:uFillTx/>
                  <a:latin typeface="+mj-lt"/>
                </a:rPr>
                <a:t>Prepare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950">
                  <a:solidFill>
                    <a:srgbClr val="69707D"/>
                  </a:solidFill>
                </a:defRPr>
              </a:pPr>
              <a:r>
                <a:rPr kumimoji="0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69707D"/>
                  </a:solidFill>
                  <a:effectLst/>
                  <a:uLnTx/>
                  <a:uFillTx/>
                  <a:latin typeface="+mj-lt"/>
                </a:rPr>
                <a:t>EDA + correlation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5CC49649-824B-AA1A-433F-6B9969D95D98}"/>
              </a:ext>
            </a:extLst>
          </p:cNvPr>
          <p:cNvSpPr txBox="1">
            <a:spLocks/>
          </p:cNvSpPr>
          <p:nvPr/>
        </p:nvSpPr>
        <p:spPr>
          <a:xfrm>
            <a:off x="2614421" y="406458"/>
            <a:ext cx="7288282" cy="7418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EDA - State-wise Performance</a:t>
            </a:r>
            <a:endParaRPr kumimoji="0" lang="en-US" sz="44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44AB61FC-B7F1-8018-59DD-C7E66341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8562" y="3803049"/>
            <a:ext cx="57404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b="0" dirty="0"/>
              <a:t>Company count: California 17, New York 17, Florida 16.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b="0" dirty="0"/>
              <a:t>Florida has the highest average Profit (118.77K), followed by New York (113.76K) and California (103.91K).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b="0" dirty="0"/>
              <a:t>The differences are relatively small, so State is unlikely to be a strong differentiator of profitability in this dataset.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D7C0BD9-108F-25D2-6132-F78EC9158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365331"/>
              </p:ext>
            </p:extLst>
          </p:nvPr>
        </p:nvGraphicFramePr>
        <p:xfrm>
          <a:off x="355600" y="3037840"/>
          <a:ext cx="55778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8BEAA9A-70BB-7DDE-3E76-B85DE6059ED9}"/>
              </a:ext>
            </a:extLst>
          </p:cNvPr>
          <p:cNvSpPr txBox="1"/>
          <p:nvPr/>
        </p:nvSpPr>
        <p:spPr>
          <a:xfrm>
            <a:off x="355600" y="1376822"/>
            <a:ext cx="1068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9707D"/>
                </a:solidFill>
              </a:defRPr>
            </a:pPr>
            <a:r>
              <a:rPr sz="1600" spc="50" dirty="0">
                <a:solidFill>
                  <a:srgbClr val="282D37"/>
                </a:solidFill>
              </a:rPr>
              <a:t>The sample is broadly balanced across California, New York and Florida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9499A3B-BD59-4CC7-FC19-D73C3D6B2058}"/>
              </a:ext>
            </a:extLst>
          </p:cNvPr>
          <p:cNvSpPr/>
          <p:nvPr/>
        </p:nvSpPr>
        <p:spPr>
          <a:xfrm>
            <a:off x="960120" y="1842164"/>
            <a:ext cx="246888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2FB4BA-5A0C-A59C-9F95-D77531AA521E}"/>
              </a:ext>
            </a:extLst>
          </p:cNvPr>
          <p:cNvSpPr/>
          <p:nvPr/>
        </p:nvSpPr>
        <p:spPr>
          <a:xfrm>
            <a:off x="960120" y="1842164"/>
            <a:ext cx="64008" cy="1143000"/>
          </a:xfrm>
          <a:prstGeom prst="rect">
            <a:avLst/>
          </a:prstGeom>
          <a:solidFill>
            <a:srgbClr val="2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45072-2DE7-6F1B-80E1-5C553C89FC19}"/>
              </a:ext>
            </a:extLst>
          </p:cNvPr>
          <p:cNvSpPr txBox="1"/>
          <p:nvPr/>
        </p:nvSpPr>
        <p:spPr>
          <a:xfrm>
            <a:off x="1124712" y="1979324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240"/>
                </a:solidFill>
              </a:defRPr>
            </a:pPr>
            <a:r>
              <a:t>$112.01K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647DB-B17C-DD44-5F17-0DC4D192D475}"/>
              </a:ext>
            </a:extLst>
          </p:cNvPr>
          <p:cNvSpPr txBox="1"/>
          <p:nvPr/>
        </p:nvSpPr>
        <p:spPr>
          <a:xfrm>
            <a:off x="1124712" y="2470814"/>
            <a:ext cx="219456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Average Profit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7F625DDC-3D75-8406-B53B-7B9718D9BB69}"/>
              </a:ext>
            </a:extLst>
          </p:cNvPr>
          <p:cNvSpPr/>
          <p:nvPr/>
        </p:nvSpPr>
        <p:spPr>
          <a:xfrm>
            <a:off x="3657600" y="1842164"/>
            <a:ext cx="246888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542632-61E3-C28A-5A63-42C7AB6BF137}"/>
              </a:ext>
            </a:extLst>
          </p:cNvPr>
          <p:cNvSpPr/>
          <p:nvPr/>
        </p:nvSpPr>
        <p:spPr>
          <a:xfrm>
            <a:off x="3657600" y="1842164"/>
            <a:ext cx="64008" cy="1143000"/>
          </a:xfrm>
          <a:prstGeom prst="rect">
            <a:avLst/>
          </a:prstGeom>
          <a:solidFill>
            <a:srgbClr val="2A8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E2389E-114C-C832-7851-1FEC4C2E5F7E}"/>
              </a:ext>
            </a:extLst>
          </p:cNvPr>
          <p:cNvSpPr txBox="1"/>
          <p:nvPr/>
        </p:nvSpPr>
        <p:spPr>
          <a:xfrm>
            <a:off x="3822192" y="1979324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240"/>
                </a:solidFill>
              </a:defRPr>
            </a:pPr>
            <a:r>
              <a:t>$73.72K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6FBE1-2D58-6DE9-2F0C-119974C5C730}"/>
              </a:ext>
            </a:extLst>
          </p:cNvPr>
          <p:cNvSpPr txBox="1"/>
          <p:nvPr/>
        </p:nvSpPr>
        <p:spPr>
          <a:xfrm>
            <a:off x="3822192" y="2470814"/>
            <a:ext cx="219456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Average R&amp;D Spend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5EB55991-962B-43BA-67C2-C717C3C9213E}"/>
              </a:ext>
            </a:extLst>
          </p:cNvPr>
          <p:cNvSpPr/>
          <p:nvPr/>
        </p:nvSpPr>
        <p:spPr>
          <a:xfrm>
            <a:off x="6355080" y="1842164"/>
            <a:ext cx="246888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7D58C7-5C36-347C-55A9-DCDF19072960}"/>
              </a:ext>
            </a:extLst>
          </p:cNvPr>
          <p:cNvSpPr/>
          <p:nvPr/>
        </p:nvSpPr>
        <p:spPr>
          <a:xfrm>
            <a:off x="6355080" y="1842164"/>
            <a:ext cx="64008" cy="1143000"/>
          </a:xfrm>
          <a:prstGeom prst="rect">
            <a:avLst/>
          </a:prstGeom>
          <a:solidFill>
            <a:srgbClr val="DD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469CD3-690D-DA11-324C-F70AB360BE01}"/>
              </a:ext>
            </a:extLst>
          </p:cNvPr>
          <p:cNvSpPr txBox="1"/>
          <p:nvPr/>
        </p:nvSpPr>
        <p:spPr>
          <a:xfrm>
            <a:off x="6519672" y="1979324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240"/>
                </a:solidFill>
              </a:defRPr>
            </a:pPr>
            <a:r>
              <a:t>$211.03K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A4C9A8-81D0-FCA2-5A33-DE17C81BB092}"/>
              </a:ext>
            </a:extLst>
          </p:cNvPr>
          <p:cNvSpPr txBox="1"/>
          <p:nvPr/>
        </p:nvSpPr>
        <p:spPr>
          <a:xfrm>
            <a:off x="6519672" y="2470814"/>
            <a:ext cx="219456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Average Marketing Spend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4836982A-1381-1E02-F3B2-9AD2D8C4C372}"/>
              </a:ext>
            </a:extLst>
          </p:cNvPr>
          <p:cNvSpPr/>
          <p:nvPr/>
        </p:nvSpPr>
        <p:spPr>
          <a:xfrm>
            <a:off x="9052560" y="1842164"/>
            <a:ext cx="246888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72FE72-7224-C9C9-40A8-C32E32FD4BC3}"/>
              </a:ext>
            </a:extLst>
          </p:cNvPr>
          <p:cNvSpPr/>
          <p:nvPr/>
        </p:nvSpPr>
        <p:spPr>
          <a:xfrm>
            <a:off x="9052560" y="1842164"/>
            <a:ext cx="64008" cy="1143000"/>
          </a:xfrm>
          <a:prstGeom prst="rect">
            <a:avLst/>
          </a:prstGeom>
          <a:solidFill>
            <a:srgbClr val="2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92AD08-A716-3C94-5207-AA6613082EC4}"/>
              </a:ext>
            </a:extLst>
          </p:cNvPr>
          <p:cNvSpPr txBox="1"/>
          <p:nvPr/>
        </p:nvSpPr>
        <p:spPr>
          <a:xfrm>
            <a:off x="9217152" y="1979324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240"/>
                </a:solidFill>
              </a:defRPr>
            </a:pPr>
            <a:r>
              <a:t>$121.34K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C03B9D-394D-126B-98B6-6C9ED9402239}"/>
              </a:ext>
            </a:extLst>
          </p:cNvPr>
          <p:cNvSpPr txBox="1"/>
          <p:nvPr/>
        </p:nvSpPr>
        <p:spPr>
          <a:xfrm>
            <a:off x="9217152" y="2470814"/>
            <a:ext cx="219456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Average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203686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5CC49649-824B-AA1A-433F-6B9969D95D98}"/>
              </a:ext>
            </a:extLst>
          </p:cNvPr>
          <p:cNvSpPr txBox="1">
            <a:spLocks/>
          </p:cNvSpPr>
          <p:nvPr/>
        </p:nvSpPr>
        <p:spPr>
          <a:xfrm>
            <a:off x="2614421" y="406458"/>
            <a:ext cx="8656794" cy="7418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EDA-Department-wise Spending Profile</a:t>
            </a:r>
            <a:endParaRPr kumimoji="0" lang="en-US" sz="44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44AB61FC-B7F1-8018-59DD-C7E66341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751495"/>
            <a:ext cx="555355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Marketing receives the largest investment.</a:t>
            </a:r>
          </a:p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But correlation analysis shows R&amp;D has the strongest relationship with Profit.</a:t>
            </a:r>
          </a:p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dirty="0"/>
              <a:t>Correlation with profit :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1">
                <a:solidFill>
                  <a:srgbClr val="122240"/>
                </a:solidFill>
              </a:defRPr>
            </a:pPr>
            <a:r>
              <a:rPr lang="en-US" sz="1600" b="0" dirty="0">
                <a:solidFill>
                  <a:srgbClr val="122240"/>
                </a:solidFill>
              </a:rPr>
              <a:t>R&amp;D Spend vs Profit: Strong positive relationship.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1">
                <a:solidFill>
                  <a:srgbClr val="122240"/>
                </a:solidFill>
              </a:defRPr>
            </a:pPr>
            <a:r>
              <a:rPr lang="en-US" sz="1600" b="0" dirty="0">
                <a:solidFill>
                  <a:srgbClr val="122240"/>
                </a:solidFill>
              </a:rPr>
              <a:t>Marketing Spend vs Profit: Moderate positive relationship with some variation.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400" b="1">
                <a:solidFill>
                  <a:srgbClr val="122240"/>
                </a:solidFill>
              </a:defRPr>
            </a:pPr>
            <a:r>
              <a:rPr lang="en-US" sz="1600" b="0" dirty="0">
                <a:solidFill>
                  <a:srgbClr val="122240"/>
                </a:solidFill>
              </a:rPr>
              <a:t>Administrative Spend vs Profit: Weak or negligible relationship</a:t>
            </a:r>
            <a:r>
              <a:rPr lang="en-US" sz="1600" b="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EAA9A-70BB-7DDE-3E76-B85DE6059ED9}"/>
              </a:ext>
            </a:extLst>
          </p:cNvPr>
          <p:cNvSpPr txBox="1"/>
          <p:nvPr/>
        </p:nvSpPr>
        <p:spPr>
          <a:xfrm>
            <a:off x="355600" y="1269000"/>
            <a:ext cx="1068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9707D"/>
                </a:solidFill>
              </a:defRPr>
            </a:pPr>
            <a:r>
              <a:rPr lang="en-US" sz="1600" spc="50" dirty="0">
                <a:solidFill>
                  <a:srgbClr val="282D37"/>
                </a:solidFill>
              </a:rPr>
              <a:t>Investment volume does not automatically indicate business impact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B79AE9A9-00C2-73F8-75B4-C3E75732E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709141"/>
              </p:ext>
            </p:extLst>
          </p:nvPr>
        </p:nvGraphicFramePr>
        <p:xfrm>
          <a:off x="945270" y="3820288"/>
          <a:ext cx="4187951" cy="3089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5972ECA3-7DAC-A704-BD3C-50198A11B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08" y="1631742"/>
            <a:ext cx="9651607" cy="207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76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5CC49649-824B-AA1A-433F-6B9969D95D98}"/>
              </a:ext>
            </a:extLst>
          </p:cNvPr>
          <p:cNvSpPr txBox="1">
            <a:spLocks/>
          </p:cNvSpPr>
          <p:nvPr/>
        </p:nvSpPr>
        <p:spPr>
          <a:xfrm>
            <a:off x="2614421" y="406458"/>
            <a:ext cx="7288282" cy="7418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Regression Model Evaluation</a:t>
            </a:r>
            <a:endParaRPr kumimoji="0" lang="en-US" sz="44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44AB61FC-B7F1-8018-59DD-C7E66341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8480" y="2451776"/>
            <a:ext cx="6136640" cy="2328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Gradient Boosting achieved the highest initial R² = 0.893.</a:t>
            </a:r>
          </a:p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Random Forest followed at R² = 0.876.</a:t>
            </a:r>
          </a:p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Linear Regression achieved R² = 0.856 with RMSE = 14,911.997 and MAE = 10,719.997.</a:t>
            </a:r>
          </a:p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Neural Network and SVM performed poorly in this evaluation.</a:t>
            </a:r>
          </a:p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The initial ranking was not the final decision. 5-fold cross-validation will be used to assess generalization more reliably.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EAA9A-70BB-7DDE-3E76-B85DE6059ED9}"/>
              </a:ext>
            </a:extLst>
          </p:cNvPr>
          <p:cNvSpPr txBox="1"/>
          <p:nvPr/>
        </p:nvSpPr>
        <p:spPr>
          <a:xfrm>
            <a:off x="355600" y="1269000"/>
            <a:ext cx="1068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9707D"/>
                </a:solidFill>
              </a:defRPr>
            </a:pPr>
            <a:r>
              <a:rPr lang="en-US" sz="1600" spc="50" dirty="0"/>
              <a:t>Initial 80:20 holdout comparison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636055A-AB33-F52A-FB80-A4C2CF812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946710"/>
              </p:ext>
            </p:extLst>
          </p:nvPr>
        </p:nvGraphicFramePr>
        <p:xfrm>
          <a:off x="355600" y="2451776"/>
          <a:ext cx="4898023" cy="3871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89920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5CC49649-824B-AA1A-433F-6B9969D95D98}"/>
              </a:ext>
            </a:extLst>
          </p:cNvPr>
          <p:cNvSpPr txBox="1">
            <a:spLocks/>
          </p:cNvSpPr>
          <p:nvPr/>
        </p:nvSpPr>
        <p:spPr>
          <a:xfrm>
            <a:off x="2614421" y="406458"/>
            <a:ext cx="7288282" cy="7418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5 Fold Cross-Validation</a:t>
            </a:r>
            <a:endParaRPr kumimoji="0" lang="en-US" sz="44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44AB61FC-B7F1-8018-59DD-C7E663412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760" y="2451809"/>
            <a:ext cx="6136640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Linear Regression became the strongest model under cross-validation.</a:t>
            </a:r>
          </a:p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R² = 0.943 for Linear Regression.</a:t>
            </a:r>
          </a:p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Gradient Boosting = 0.933 and Random Forest = 0.929.</a:t>
            </a:r>
          </a:p>
          <a:p>
            <a:pPr>
              <a:defRPr sz="1400" b="1">
                <a:solidFill>
                  <a:srgbClr val="122240"/>
                </a:solidFill>
              </a:defRPr>
            </a:pPr>
            <a:r>
              <a:rPr lang="en-US" sz="1600" b="0" dirty="0"/>
              <a:t>The report states Linear Regression also achieved the lowest MSE, RMSE, MAE, MAPE and </a:t>
            </a:r>
            <a:r>
              <a:rPr lang="en-US" sz="1600" b="0" dirty="0" err="1"/>
              <a:t>sMAPE</a:t>
            </a:r>
            <a:r>
              <a:rPr lang="en-US" sz="1600" b="0" dirty="0"/>
              <a:t> among evaluated models.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EAA9A-70BB-7DDE-3E76-B85DE6059ED9}"/>
              </a:ext>
            </a:extLst>
          </p:cNvPr>
          <p:cNvSpPr txBox="1"/>
          <p:nvPr/>
        </p:nvSpPr>
        <p:spPr>
          <a:xfrm>
            <a:off x="355600" y="1269000"/>
            <a:ext cx="1068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9707D"/>
                </a:solidFill>
              </a:defRPr>
            </a:pPr>
            <a:r>
              <a:rPr lang="en-US" sz="1600" spc="50" dirty="0"/>
              <a:t>5-fold cross-validation provided a more reliable generalization estimate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DB970B1-699D-E379-D371-436C7D48A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945260"/>
              </p:ext>
            </p:extLst>
          </p:nvPr>
        </p:nvGraphicFramePr>
        <p:xfrm>
          <a:off x="436880" y="2451776"/>
          <a:ext cx="5040544" cy="370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2D1E51F-C989-94FA-8A57-67567C461B98}"/>
              </a:ext>
            </a:extLst>
          </p:cNvPr>
          <p:cNvSpPr txBox="1"/>
          <p:nvPr/>
        </p:nvSpPr>
        <p:spPr>
          <a:xfrm>
            <a:off x="355600" y="1823295"/>
            <a:ext cx="10942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spc="50" dirty="0"/>
              <a:t>Linear Regression — stronger and more consistent generalization than the tree-based ensembles</a:t>
            </a:r>
          </a:p>
        </p:txBody>
      </p:sp>
    </p:spTree>
    <p:extLst>
      <p:ext uri="{BB962C8B-B14F-4D97-AF65-F5344CB8AC3E}">
        <p14:creationId xmlns:p14="http://schemas.microsoft.com/office/powerpoint/2010/main" val="1485986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5CC49649-824B-AA1A-433F-6B9969D95D98}"/>
              </a:ext>
            </a:extLst>
          </p:cNvPr>
          <p:cNvSpPr txBox="1">
            <a:spLocks/>
          </p:cNvSpPr>
          <p:nvPr/>
        </p:nvSpPr>
        <p:spPr>
          <a:xfrm>
            <a:off x="2614421" y="406458"/>
            <a:ext cx="7288282" cy="7418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Final Regression Model</a:t>
            </a:r>
            <a:endParaRPr kumimoji="0" lang="en-US" sz="44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EAA9A-70BB-7DDE-3E76-B85DE6059ED9}"/>
              </a:ext>
            </a:extLst>
          </p:cNvPr>
          <p:cNvSpPr txBox="1"/>
          <p:nvPr/>
        </p:nvSpPr>
        <p:spPr>
          <a:xfrm>
            <a:off x="355600" y="1269000"/>
            <a:ext cx="1068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9707D"/>
                </a:solidFill>
              </a:defRPr>
            </a:pPr>
            <a:r>
              <a:rPr lang="en-US" sz="1600" spc="50" dirty="0"/>
              <a:t>Model selection balances performance with compatibility of available prediction inputs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CEED5982-608A-80C7-1610-9BA4182BEA44}"/>
              </a:ext>
            </a:extLst>
          </p:cNvPr>
          <p:cNvSpPr/>
          <p:nvPr/>
        </p:nvSpPr>
        <p:spPr>
          <a:xfrm>
            <a:off x="1584642" y="2067560"/>
            <a:ext cx="3480118" cy="1478280"/>
          </a:xfrm>
          <a:prstGeom prst="roundRect">
            <a:avLst/>
          </a:prstGeom>
          <a:solidFill>
            <a:srgbClr val="E5EFFA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83084-7AF5-F21E-08D8-9A8146C0450D}"/>
              </a:ext>
            </a:extLst>
          </p:cNvPr>
          <p:cNvSpPr txBox="1"/>
          <p:nvPr/>
        </p:nvSpPr>
        <p:spPr>
          <a:xfrm>
            <a:off x="1695512" y="2298868"/>
            <a:ext cx="3258377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2240"/>
                </a:solidFill>
              </a:defRPr>
            </a:pPr>
            <a:r>
              <a:rPr sz="1200" dirty="0"/>
              <a:t>FULL MODEL</a:t>
            </a:r>
            <a:br>
              <a:rPr sz="1200" dirty="0"/>
            </a:br>
            <a:r>
              <a:rPr sz="1200" dirty="0"/>
              <a:t>R&amp;D + Administration + Marketing</a:t>
            </a:r>
            <a:br>
              <a:rPr sz="1200" dirty="0"/>
            </a:br>
            <a:r>
              <a:rPr sz="1200" dirty="0"/>
              <a:t>R² = 0.872</a:t>
            </a:r>
            <a:br>
              <a:rPr sz="1200" dirty="0"/>
            </a:br>
            <a:r>
              <a:rPr sz="1200" dirty="0"/>
              <a:t>RMSE = 14,039.168</a:t>
            </a:r>
            <a:br>
              <a:rPr sz="1200" dirty="0"/>
            </a:br>
            <a:r>
              <a:rPr sz="1200" dirty="0"/>
              <a:t>MAE = 9,704.382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799EF8A5-1960-F4CC-A467-50CE5A8C57A2}"/>
              </a:ext>
            </a:extLst>
          </p:cNvPr>
          <p:cNvSpPr/>
          <p:nvPr/>
        </p:nvSpPr>
        <p:spPr>
          <a:xfrm>
            <a:off x="7116762" y="2067560"/>
            <a:ext cx="3480118" cy="1478280"/>
          </a:xfrm>
          <a:prstGeom prst="roundRect">
            <a:avLst/>
          </a:prstGeom>
          <a:solidFill>
            <a:srgbClr val="E5EFFA"/>
          </a:solidFill>
          <a:ln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F4738-E6C0-C7F3-1C86-B915ACFAC4C4}"/>
              </a:ext>
            </a:extLst>
          </p:cNvPr>
          <p:cNvSpPr txBox="1"/>
          <p:nvPr/>
        </p:nvSpPr>
        <p:spPr>
          <a:xfrm>
            <a:off x="7227632" y="2336393"/>
            <a:ext cx="3258377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22240"/>
                </a:solidFill>
              </a:defRPr>
            </a:pPr>
            <a:r>
              <a:rPr sz="1200" dirty="0"/>
              <a:t>REDUCED MODEL</a:t>
            </a:r>
            <a:br>
              <a:rPr sz="1200" dirty="0"/>
            </a:br>
            <a:r>
              <a:rPr sz="1200" dirty="0"/>
              <a:t>R&amp;D + Marketing</a:t>
            </a:r>
            <a:br>
              <a:rPr sz="1200" dirty="0"/>
            </a:br>
            <a:r>
              <a:rPr sz="1200" dirty="0"/>
              <a:t>R² = 0.876</a:t>
            </a:r>
            <a:br>
              <a:rPr sz="1200" dirty="0"/>
            </a:br>
            <a:r>
              <a:rPr sz="1200" dirty="0"/>
              <a:t>RMSE = 13,821.213</a:t>
            </a:r>
            <a:br>
              <a:rPr sz="1200" dirty="0"/>
            </a:br>
            <a:r>
              <a:rPr sz="1200" dirty="0"/>
              <a:t>MAE = 9,337.711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DDC19C-C375-7541-B1DB-D86B3950CDD0}"/>
              </a:ext>
            </a:extLst>
          </p:cNvPr>
          <p:cNvSpPr txBox="1"/>
          <p:nvPr/>
        </p:nvSpPr>
        <p:spPr>
          <a:xfrm>
            <a:off x="355600" y="4005846"/>
            <a:ext cx="1107440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Administration was tested for removal because EDA showed a weak relationship with Profit.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The reduced model performed slightly better on the 80:20 test split.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However, new prediction scenarios contain R&amp;D, Administration and Marketing but no State.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Therefore, the full department-spend model was retained for final prediction because it matches the available inputs and uses all three provided spend values.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State was excluded because it is unavailable for the new scenarios</a:t>
            </a:r>
          </a:p>
        </p:txBody>
      </p:sp>
    </p:spTree>
    <p:extLst>
      <p:ext uri="{BB962C8B-B14F-4D97-AF65-F5344CB8AC3E}">
        <p14:creationId xmlns:p14="http://schemas.microsoft.com/office/powerpoint/2010/main" val="180073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5CC49649-824B-AA1A-433F-6B9969D95D98}"/>
              </a:ext>
            </a:extLst>
          </p:cNvPr>
          <p:cNvSpPr txBox="1">
            <a:spLocks/>
          </p:cNvSpPr>
          <p:nvPr/>
        </p:nvSpPr>
        <p:spPr>
          <a:xfrm>
            <a:off x="2614421" y="406458"/>
            <a:ext cx="7288282" cy="7418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Profit Prediction</a:t>
            </a:r>
            <a:endParaRPr kumimoji="0" lang="en-US" sz="44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EAA9A-70BB-7DDE-3E76-B85DE6059ED9}"/>
              </a:ext>
            </a:extLst>
          </p:cNvPr>
          <p:cNvSpPr txBox="1"/>
          <p:nvPr/>
        </p:nvSpPr>
        <p:spPr>
          <a:xfrm>
            <a:off x="355600" y="1269000"/>
            <a:ext cx="1068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9707D"/>
                </a:solidFill>
              </a:defRPr>
            </a:pPr>
            <a:r>
              <a:rPr lang="en-US" sz="1600" spc="50" dirty="0"/>
              <a:t>Predictions generated from the final Multiple Linear Regression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DDC19C-C375-7541-B1DB-D86B3950CDD0}"/>
              </a:ext>
            </a:extLst>
          </p:cNvPr>
          <p:cNvSpPr txBox="1"/>
          <p:nvPr/>
        </p:nvSpPr>
        <p:spPr>
          <a:xfrm>
            <a:off x="355600" y="4005846"/>
            <a:ext cx="11074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Predictions should be interpreted within the limitations of the 50-record dataset and the model's observed validation performance.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F87E54-FE26-87CB-47FD-7C4674272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24667"/>
              </p:ext>
            </p:extLst>
          </p:nvPr>
        </p:nvGraphicFramePr>
        <p:xfrm>
          <a:off x="594360" y="1846580"/>
          <a:ext cx="10835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R&amp;D 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Administration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Marketing 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Predicted Profit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82D37"/>
                          </a:solidFill>
                        </a:defRPr>
                      </a:pPr>
                      <a:r>
                        <a:t>$21,892.92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82D37"/>
                          </a:solidFill>
                        </a:defRPr>
                      </a:pPr>
                      <a:r>
                        <a:t>$81,910.77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82D37"/>
                          </a:solidFill>
                        </a:defRPr>
                      </a:pPr>
                      <a:r>
                        <a:t>$164,270.70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82D37"/>
                          </a:solidFill>
                        </a:defRPr>
                      </a:pPr>
                      <a:r>
                        <a:t>$113,070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82D37"/>
                          </a:solidFill>
                        </a:defRPr>
                      </a:pPr>
                      <a:r>
                        <a:t>$23,940.93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82D37"/>
                          </a:solidFill>
                        </a:defRPr>
                      </a:pPr>
                      <a:r>
                        <a:rPr dirty="0"/>
                        <a:t>$96,489.63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82D37"/>
                          </a:solidFill>
                        </a:defRPr>
                      </a:pPr>
                      <a:r>
                        <a:t>$137,001.10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82D37"/>
                          </a:solidFill>
                        </a:defRPr>
                      </a:pPr>
                      <a:r>
                        <a:rPr dirty="0"/>
                        <a:t>$112,679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402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5CC49649-824B-AA1A-433F-6B9969D95D98}"/>
              </a:ext>
            </a:extLst>
          </p:cNvPr>
          <p:cNvSpPr txBox="1">
            <a:spLocks/>
          </p:cNvSpPr>
          <p:nvPr/>
        </p:nvSpPr>
        <p:spPr>
          <a:xfrm>
            <a:off x="1981200" y="406458"/>
            <a:ext cx="8351519" cy="7418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Business Insights and Recommendations </a:t>
            </a:r>
            <a:endParaRPr kumimoji="0" lang="en-US" sz="32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DDC19C-C375-7541-B1DB-D86B3950CDD0}"/>
              </a:ext>
            </a:extLst>
          </p:cNvPr>
          <p:cNvSpPr txBox="1"/>
          <p:nvPr/>
        </p:nvSpPr>
        <p:spPr>
          <a:xfrm>
            <a:off x="5669280" y="1986883"/>
            <a:ext cx="5892800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b="1" dirty="0"/>
              <a:t>Business Recommendations: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b="1" dirty="0"/>
              <a:t>Prioritize R&amp;D Investment: </a:t>
            </a:r>
            <a:r>
              <a:rPr lang="en-US" sz="1600" dirty="0"/>
              <a:t>Allocate resources toward product development, innovation, technology, and capability building.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b="1" dirty="0"/>
              <a:t>Maintain an ROI-Focused Marketing Strategy: </a:t>
            </a:r>
            <a:r>
              <a:rPr lang="en-US" sz="1600" dirty="0"/>
              <a:t>Invest in marketing activities that demonstrate measurable customer acquisition and revenue returns.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b="1" dirty="0"/>
              <a:t>Control Administrative Costs :</a:t>
            </a:r>
            <a:r>
              <a:rPr lang="en-US" sz="1600" dirty="0"/>
              <a:t>Avoid unnecessary overhead and redirect excess administrative spending toward higher-value activities.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b="1" dirty="0"/>
              <a:t>Focus on Business Strategy Over Geography: </a:t>
            </a:r>
            <a:r>
              <a:rPr lang="en-US" sz="1600" dirty="0"/>
              <a:t>Since State has limited predictive value, startups should prioritize operational efficiency, innovation, and market strategy rather than location alone.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A79BB-1AB2-D2F5-FF92-7650BBDB811D}"/>
              </a:ext>
            </a:extLst>
          </p:cNvPr>
          <p:cNvSpPr txBox="1"/>
          <p:nvPr/>
        </p:nvSpPr>
        <p:spPr>
          <a:xfrm>
            <a:off x="304800" y="1689366"/>
            <a:ext cx="536448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b="1" dirty="0"/>
              <a:t>Business Insights :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R&amp;D investment is the strongest profitability driver — higher R&amp;D spending is associated with higher Profit.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Marketing supports profitability — Marketing Spend has a positive relationship with Profit, but with a smaller impact than R&amp;D.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Administrative spending has limited influence — increasing Administration Spend alone does not significantly improve Profit.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Location is not a major differentiator — State provides little additional predictive value, and profitability is broadly comparable across states.</a:t>
            </a:r>
          </a:p>
          <a:p>
            <a:pPr>
              <a:spcAft>
                <a:spcPts val="800"/>
              </a:spcAft>
              <a:defRPr sz="1500">
                <a:solidFill>
                  <a:srgbClr val="282D37"/>
                </a:solidFill>
              </a:defRPr>
            </a:pPr>
            <a:r>
              <a:rPr lang="en-US" sz="1600" dirty="0"/>
              <a:t>Investment efficiency matters — profitability depends more on how effectively spending is allocated than simply increasing total expenditure.</a:t>
            </a:r>
          </a:p>
        </p:txBody>
      </p:sp>
    </p:spTree>
    <p:extLst>
      <p:ext uri="{BB962C8B-B14F-4D97-AF65-F5344CB8AC3E}">
        <p14:creationId xmlns:p14="http://schemas.microsoft.com/office/powerpoint/2010/main" val="2916199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9E4C75-5F8C-1D62-7E54-B8B46D862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2547" y="3429000"/>
            <a:ext cx="5184025" cy="286916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sz="2800" cap="none" dirty="0"/>
              <a:t>Srigopikaa.</a:t>
            </a:r>
            <a:r>
              <a:rPr lang="en-US" sz="2800" dirty="0"/>
              <a:t>M.P</a:t>
            </a:r>
            <a:br>
              <a:rPr lang="en-US" sz="2800" dirty="0"/>
            </a:br>
            <a:r>
              <a:rPr lang="en-US" sz="2800" dirty="0"/>
              <a:t>9677976502</a:t>
            </a:r>
            <a:br>
              <a:rPr lang="en-US" sz="2800" dirty="0"/>
            </a:br>
            <a:r>
              <a:rPr lang="en-US" sz="2800" cap="none" dirty="0">
                <a:hlinkClick r:id="rId3"/>
              </a:rPr>
              <a:t>srigopikaa@gmail.com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262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</TotalTime>
  <Words>913</Words>
  <Application>Microsoft Office PowerPoint</Application>
  <PresentationFormat>Widescreen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Tenorite</vt:lpstr>
      <vt:lpstr>Office Theme</vt:lpstr>
      <vt:lpstr>Custom</vt:lpstr>
      <vt:lpstr>SQL Project Title:  Profit Analysis </vt:lpstr>
      <vt:lpstr>Problem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Srigopikaa.M.P 9677976502 srigopikaa@gmail.com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34</cp:revision>
  <dcterms:created xsi:type="dcterms:W3CDTF">2026-08-18T07:50:57Z</dcterms:created>
  <dcterms:modified xsi:type="dcterms:W3CDTF">2026-09-04T06:33:06Z</dcterms:modified>
</cp:coreProperties>
</file>